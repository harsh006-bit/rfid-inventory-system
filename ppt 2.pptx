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60" r:id="rId7"/>
    <p:sldId id="259" r:id="rId8"/>
    <p:sldId id="261" r:id="rId9"/>
    <p:sldId id="263" r:id="rId10"/>
    <p:sldId id="262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269538-BFC5-48BB-BEA1-D7AF1F385FD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9FD7F24-5BB9-46E8-BB7C-4B477B73B815}" type="pres">
      <dgm:prSet presAssocID="{81269538-BFC5-48BB-BEA1-D7AF1F385FD5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53988784-A0E1-4D82-B36B-740DE83EB0C9}" type="presOf" srcId="{81269538-BFC5-48BB-BEA1-D7AF1F385FD5}" destId="{99FD7F24-5BB9-46E8-BB7C-4B477B73B815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F9FC193-7A05-4631-B681-B56EAB543D38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57B86A-DEC1-407C-A1BB-5BF9ACCBCA6A}">
      <dgm:prSet phldrT="[Text]" custT="1"/>
      <dgm:spPr/>
      <dgm:t>
        <a:bodyPr/>
        <a:lstStyle/>
        <a:p>
          <a:r>
            <a:rPr lang="en-US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Benefits</a:t>
          </a:r>
          <a:endParaRPr lang="en-US" sz="3600" b="1" dirty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CA7BF9B-8199-4683-AD57-CB0086659013}" type="parTrans" cxnId="{B12F0503-977A-4B5D-8CB7-420B041FF863}">
      <dgm:prSet/>
      <dgm:spPr/>
      <dgm:t>
        <a:bodyPr/>
        <a:lstStyle/>
        <a:p>
          <a:endParaRPr lang="en-US"/>
        </a:p>
      </dgm:t>
    </dgm:pt>
    <dgm:pt modelId="{F087F24E-A7D7-4DCE-B2A7-9B941289621A}" type="sibTrans" cxnId="{B12F0503-977A-4B5D-8CB7-420B041FF863}">
      <dgm:prSet/>
      <dgm:spPr/>
      <dgm:t>
        <a:bodyPr/>
        <a:lstStyle/>
        <a:p>
          <a:endParaRPr lang="en-US"/>
        </a:p>
      </dgm:t>
    </dgm:pt>
    <dgm:pt modelId="{4C8BFA56-3F75-4CAD-90A3-2F214D699322}">
      <dgm:prSet phldrT="[Text]"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 dirty="0"/>
            <a:t>Eliminates manual stock counting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9A6E3B20-A734-4412-84CF-0134D93D4B28}" type="parTrans" cxnId="{4CD5FCDD-1F8A-43A3-BD77-CBE3B3864C41}">
      <dgm:prSet/>
      <dgm:spPr/>
      <dgm:t>
        <a:bodyPr/>
        <a:lstStyle/>
        <a:p>
          <a:endParaRPr lang="en-US"/>
        </a:p>
      </dgm:t>
    </dgm:pt>
    <dgm:pt modelId="{7B50916F-B8BA-427F-B9F0-A301E54D7FB3}" type="sibTrans" cxnId="{4CD5FCDD-1F8A-43A3-BD77-CBE3B3864C41}">
      <dgm:prSet/>
      <dgm:spPr/>
      <dgm:t>
        <a:bodyPr/>
        <a:lstStyle/>
        <a:p>
          <a:endParaRPr lang="en-US"/>
        </a:p>
      </dgm:t>
    </dgm:pt>
    <dgm:pt modelId="{38E4AC35-E9F6-41B7-B212-FE4602D30C3B}">
      <dgm:prSet phldrT="[Text]"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 dirty="0"/>
            <a:t>Minimizes human errors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09C6E2E0-FE80-4505-AF99-1B8D77E14E01}" type="parTrans" cxnId="{8E6DCFEA-A0F9-4036-BE09-8AFC362CD062}">
      <dgm:prSet/>
      <dgm:spPr/>
      <dgm:t>
        <a:bodyPr/>
        <a:lstStyle/>
        <a:p>
          <a:endParaRPr lang="en-US"/>
        </a:p>
      </dgm:t>
    </dgm:pt>
    <dgm:pt modelId="{93A7A628-68B2-47C4-9C79-69062D5D64D1}" type="sibTrans" cxnId="{8E6DCFEA-A0F9-4036-BE09-8AFC362CD062}">
      <dgm:prSet/>
      <dgm:spPr/>
      <dgm:t>
        <a:bodyPr/>
        <a:lstStyle/>
        <a:p>
          <a:endParaRPr lang="en-US"/>
        </a:p>
      </dgm:t>
    </dgm:pt>
    <dgm:pt modelId="{167CA422-00E5-40BD-B775-5D909F66A9F9}">
      <dgm:prSet phldrT="[Text]"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 dirty="0"/>
            <a:t>Saves time and labor costs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ED6FB1E-CBC8-411B-9546-178868160925}" type="parTrans" cxnId="{895E923B-E3EB-4268-9C5D-2A44D34C82A9}">
      <dgm:prSet/>
      <dgm:spPr/>
      <dgm:t>
        <a:bodyPr/>
        <a:lstStyle/>
        <a:p>
          <a:endParaRPr lang="en-US"/>
        </a:p>
      </dgm:t>
    </dgm:pt>
    <dgm:pt modelId="{3D51F523-C75B-4130-AE7B-59184E1EFE1B}" type="sibTrans" cxnId="{895E923B-E3EB-4268-9C5D-2A44D34C82A9}">
      <dgm:prSet/>
      <dgm:spPr/>
      <dgm:t>
        <a:bodyPr/>
        <a:lstStyle/>
        <a:p>
          <a:endParaRPr lang="en-US"/>
        </a:p>
      </dgm:t>
    </dgm:pt>
    <dgm:pt modelId="{A39BFB7F-B7CA-407C-8182-CDEE571AAB36}">
      <dgm:prSet phldrT="[Text]"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 dirty="0"/>
            <a:t>Supports Industry 4.0 automation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21417BC2-1C82-4C4C-86A4-DC84090349FC}" type="parTrans" cxnId="{24D436CF-C7CB-4D0C-A881-EF920A3BF0C6}">
      <dgm:prSet/>
      <dgm:spPr/>
      <dgm:t>
        <a:bodyPr/>
        <a:lstStyle/>
        <a:p>
          <a:endParaRPr lang="en-US"/>
        </a:p>
      </dgm:t>
    </dgm:pt>
    <dgm:pt modelId="{F8A2F123-44E5-4EDB-A904-7C99C1BFA5B0}" type="sibTrans" cxnId="{24D436CF-C7CB-4D0C-A881-EF920A3BF0C6}">
      <dgm:prSet/>
      <dgm:spPr/>
      <dgm:t>
        <a:bodyPr/>
        <a:lstStyle/>
        <a:p>
          <a:endParaRPr lang="en-US"/>
        </a:p>
      </dgm:t>
    </dgm:pt>
    <dgm:pt modelId="{E2808406-0B9E-4FB7-BB15-C8CDD1518209}">
      <dgm:prSet phldrT="[Text]"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 dirty="0"/>
            <a:t>Easy to implement and expand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6A66D861-0750-49F1-B57A-C138F2B93DA3}" type="parTrans" cxnId="{EA12592F-CE73-4BA1-B9A3-0E7CFB620CB8}">
      <dgm:prSet/>
      <dgm:spPr/>
      <dgm:t>
        <a:bodyPr/>
        <a:lstStyle/>
        <a:p>
          <a:endParaRPr lang="en-US"/>
        </a:p>
      </dgm:t>
    </dgm:pt>
    <dgm:pt modelId="{DD741FB1-86DF-4268-B508-2697C611909A}" type="sibTrans" cxnId="{EA12592F-CE73-4BA1-B9A3-0E7CFB620CB8}">
      <dgm:prSet/>
      <dgm:spPr/>
      <dgm:t>
        <a:bodyPr/>
        <a:lstStyle/>
        <a:p>
          <a:endParaRPr lang="en-US"/>
        </a:p>
      </dgm:t>
    </dgm:pt>
    <dgm:pt modelId="{DE3F77CF-6A8C-4783-A2CE-00E88C4199CB}" type="pres">
      <dgm:prSet presAssocID="{CF9FC193-7A05-4631-B681-B56EAB543D38}" presName="Name0" presStyleCnt="0">
        <dgm:presLayoutVars>
          <dgm:dir/>
          <dgm:animLvl val="lvl"/>
          <dgm:resizeHandles val="exact"/>
        </dgm:presLayoutVars>
      </dgm:prSet>
      <dgm:spPr/>
    </dgm:pt>
    <dgm:pt modelId="{4E69B62D-7E76-4E06-9330-583771E53BDE}" type="pres">
      <dgm:prSet presAssocID="{6857B86A-DEC1-407C-A1BB-5BF9ACCBCA6A}" presName="composite" presStyleCnt="0"/>
      <dgm:spPr/>
    </dgm:pt>
    <dgm:pt modelId="{F0C1B2C7-0B23-4FE8-AB0F-5877B88532DB}" type="pres">
      <dgm:prSet presAssocID="{6857B86A-DEC1-407C-A1BB-5BF9ACCBCA6A}" presName="parTx" presStyleLbl="alignNode1" presStyleIdx="0" presStyleCnt="1" custLinFactNeighborY="4637">
        <dgm:presLayoutVars>
          <dgm:chMax val="0"/>
          <dgm:chPref val="0"/>
          <dgm:bulletEnabled val="1"/>
        </dgm:presLayoutVars>
      </dgm:prSet>
      <dgm:spPr/>
    </dgm:pt>
    <dgm:pt modelId="{17CA1487-CDD9-4364-92F6-A11DBDAFE16C}" type="pres">
      <dgm:prSet presAssocID="{6857B86A-DEC1-407C-A1BB-5BF9ACCBCA6A}" presName="desTx" presStyleLbl="alignAccFollowNode1" presStyleIdx="0" presStyleCnt="1" custLinFactNeighborX="1286" custLinFactNeighborY="3629">
        <dgm:presLayoutVars>
          <dgm:bulletEnabled val="1"/>
        </dgm:presLayoutVars>
      </dgm:prSet>
      <dgm:spPr/>
    </dgm:pt>
  </dgm:ptLst>
  <dgm:cxnLst>
    <dgm:cxn modelId="{B12F0503-977A-4B5D-8CB7-420B041FF863}" srcId="{CF9FC193-7A05-4631-B681-B56EAB543D38}" destId="{6857B86A-DEC1-407C-A1BB-5BF9ACCBCA6A}" srcOrd="0" destOrd="0" parTransId="{8CA7BF9B-8199-4683-AD57-CB0086659013}" sibTransId="{F087F24E-A7D7-4DCE-B2A7-9B941289621A}"/>
    <dgm:cxn modelId="{98555C11-9ECE-4078-856C-42B823A753F9}" type="presOf" srcId="{38E4AC35-E9F6-41B7-B212-FE4602D30C3B}" destId="{17CA1487-CDD9-4364-92F6-A11DBDAFE16C}" srcOrd="0" destOrd="1" presId="urn:microsoft.com/office/officeart/2005/8/layout/hList1"/>
    <dgm:cxn modelId="{1F92A214-1FAD-46F4-89E9-DB6DEAEECAF6}" type="presOf" srcId="{167CA422-00E5-40BD-B775-5D909F66A9F9}" destId="{17CA1487-CDD9-4364-92F6-A11DBDAFE16C}" srcOrd="0" destOrd="2" presId="urn:microsoft.com/office/officeart/2005/8/layout/hList1"/>
    <dgm:cxn modelId="{0C31361A-03B0-4E4B-B3D6-10AD522A0235}" type="presOf" srcId="{A39BFB7F-B7CA-407C-8182-CDEE571AAB36}" destId="{17CA1487-CDD9-4364-92F6-A11DBDAFE16C}" srcOrd="0" destOrd="3" presId="urn:microsoft.com/office/officeart/2005/8/layout/hList1"/>
    <dgm:cxn modelId="{EA12592F-CE73-4BA1-B9A3-0E7CFB620CB8}" srcId="{6857B86A-DEC1-407C-A1BB-5BF9ACCBCA6A}" destId="{E2808406-0B9E-4FB7-BB15-C8CDD1518209}" srcOrd="4" destOrd="0" parTransId="{6A66D861-0750-49F1-B57A-C138F2B93DA3}" sibTransId="{DD741FB1-86DF-4268-B508-2697C611909A}"/>
    <dgm:cxn modelId="{895E923B-E3EB-4268-9C5D-2A44D34C82A9}" srcId="{6857B86A-DEC1-407C-A1BB-5BF9ACCBCA6A}" destId="{167CA422-00E5-40BD-B775-5D909F66A9F9}" srcOrd="2" destOrd="0" parTransId="{3ED6FB1E-CBC8-411B-9546-178868160925}" sibTransId="{3D51F523-C75B-4130-AE7B-59184E1EFE1B}"/>
    <dgm:cxn modelId="{AAECF784-8F1D-4908-B93D-837F49AB8751}" type="presOf" srcId="{CF9FC193-7A05-4631-B681-B56EAB543D38}" destId="{DE3F77CF-6A8C-4783-A2CE-00E88C4199CB}" srcOrd="0" destOrd="0" presId="urn:microsoft.com/office/officeart/2005/8/layout/hList1"/>
    <dgm:cxn modelId="{4BF1EEA1-6E89-4F91-BAE8-11038685C515}" type="presOf" srcId="{4C8BFA56-3F75-4CAD-90A3-2F214D699322}" destId="{17CA1487-CDD9-4364-92F6-A11DBDAFE16C}" srcOrd="0" destOrd="0" presId="urn:microsoft.com/office/officeart/2005/8/layout/hList1"/>
    <dgm:cxn modelId="{203F64A9-A901-47FE-B52A-7DECD03E84A8}" type="presOf" srcId="{E2808406-0B9E-4FB7-BB15-C8CDD1518209}" destId="{17CA1487-CDD9-4364-92F6-A11DBDAFE16C}" srcOrd="0" destOrd="4" presId="urn:microsoft.com/office/officeart/2005/8/layout/hList1"/>
    <dgm:cxn modelId="{5F12E8B9-000C-441B-B9E7-99ED7A20363B}" type="presOf" srcId="{6857B86A-DEC1-407C-A1BB-5BF9ACCBCA6A}" destId="{F0C1B2C7-0B23-4FE8-AB0F-5877B88532DB}" srcOrd="0" destOrd="0" presId="urn:microsoft.com/office/officeart/2005/8/layout/hList1"/>
    <dgm:cxn modelId="{24D436CF-C7CB-4D0C-A881-EF920A3BF0C6}" srcId="{6857B86A-DEC1-407C-A1BB-5BF9ACCBCA6A}" destId="{A39BFB7F-B7CA-407C-8182-CDEE571AAB36}" srcOrd="3" destOrd="0" parTransId="{21417BC2-1C82-4C4C-86A4-DC84090349FC}" sibTransId="{F8A2F123-44E5-4EDB-A904-7C99C1BFA5B0}"/>
    <dgm:cxn modelId="{4CD5FCDD-1F8A-43A3-BD77-CBE3B3864C41}" srcId="{6857B86A-DEC1-407C-A1BB-5BF9ACCBCA6A}" destId="{4C8BFA56-3F75-4CAD-90A3-2F214D699322}" srcOrd="0" destOrd="0" parTransId="{9A6E3B20-A734-4412-84CF-0134D93D4B28}" sibTransId="{7B50916F-B8BA-427F-B9F0-A301E54D7FB3}"/>
    <dgm:cxn modelId="{8E6DCFEA-A0F9-4036-BE09-8AFC362CD062}" srcId="{6857B86A-DEC1-407C-A1BB-5BF9ACCBCA6A}" destId="{38E4AC35-E9F6-41B7-B212-FE4602D30C3B}" srcOrd="1" destOrd="0" parTransId="{09C6E2E0-FE80-4505-AF99-1B8D77E14E01}" sibTransId="{93A7A628-68B2-47C4-9C79-69062D5D64D1}"/>
    <dgm:cxn modelId="{1F4D79B9-0A03-4486-BB92-D4BA991ED70D}" type="presParOf" srcId="{DE3F77CF-6A8C-4783-A2CE-00E88C4199CB}" destId="{4E69B62D-7E76-4E06-9330-583771E53BDE}" srcOrd="0" destOrd="0" presId="urn:microsoft.com/office/officeart/2005/8/layout/hList1"/>
    <dgm:cxn modelId="{EFFE150E-7CB3-4A38-AC57-820444F8E7BA}" type="presParOf" srcId="{4E69B62D-7E76-4E06-9330-583771E53BDE}" destId="{F0C1B2C7-0B23-4FE8-AB0F-5877B88532DB}" srcOrd="0" destOrd="0" presId="urn:microsoft.com/office/officeart/2005/8/layout/hList1"/>
    <dgm:cxn modelId="{332F5817-5A55-4FC1-BA35-DBB23A0AD13C}" type="presParOf" srcId="{4E69B62D-7E76-4E06-9330-583771E53BDE}" destId="{17CA1487-CDD9-4364-92F6-A11DBDAFE16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C1B2C7-0B23-4FE8-AB0F-5877B88532DB}">
      <dsp:nvSpPr>
        <dsp:cNvPr id="0" name=""/>
        <dsp:cNvSpPr/>
      </dsp:nvSpPr>
      <dsp:spPr>
        <a:xfrm>
          <a:off x="0" y="52079"/>
          <a:ext cx="5232400" cy="892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Benefits</a:t>
          </a:r>
          <a:endParaRPr lang="en-US" sz="3600" b="1" kern="1200" dirty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0" y="52079"/>
        <a:ext cx="5232400" cy="892800"/>
      </dsp:txXfrm>
    </dsp:sp>
    <dsp:sp modelId="{17CA1487-CDD9-4364-92F6-A11DBDAFE16C}">
      <dsp:nvSpPr>
        <dsp:cNvPr id="0" name=""/>
        <dsp:cNvSpPr/>
      </dsp:nvSpPr>
      <dsp:spPr>
        <a:xfrm>
          <a:off x="0" y="914160"/>
          <a:ext cx="5232400" cy="4084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54" tIns="165354" rIns="220472" bIns="248031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sz="3100" kern="1200" dirty="0"/>
            <a:t>Eliminates manual stock counting</a:t>
          </a:r>
          <a:endParaRPr lang="en-US" sz="31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sz="3100" kern="1200" dirty="0"/>
            <a:t>Minimizes human errors</a:t>
          </a:r>
          <a:endParaRPr lang="en-US" sz="31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sz="3100" kern="1200" dirty="0"/>
            <a:t>Saves time and labor costs</a:t>
          </a:r>
          <a:endParaRPr lang="en-US" sz="31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sz="3100" kern="1200" dirty="0"/>
            <a:t>Supports Industry 4.0 automation</a:t>
          </a:r>
          <a:endParaRPr lang="en-US" sz="31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sz="3100" kern="1200" dirty="0"/>
            <a:t>Easy to implement and expand</a:t>
          </a:r>
          <a:endParaRPr lang="en-US" sz="31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0" y="914160"/>
        <a:ext cx="5232400" cy="40845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9B3372-74CF-4E21-A4D4-286B22AA5A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762BE-D43C-49F5-99A5-BF49C6959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5766F-5EC0-4797-B4D1-777FCB005B11}" type="datetimeFigureOut">
              <a:rPr lang="en-US" smtClean="0"/>
              <a:t>6/6/2026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E452-9BCA-4AF5-9A9C-233BF410EA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F9F63-CE4F-44E2-A07D-7E654DE9F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AC76B-F5B1-4D6E-BACD-2A80744AC9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45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4B5EC-152C-4627-80C0-63B10D5574EF}" type="datetimeFigureOut">
              <a:rPr lang="en-US" smtClean="0"/>
              <a:t>6/6/2026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E60E-651F-40CC-AD73-C00F10CE42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1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8984" y="406400"/>
            <a:ext cx="8791575" cy="1463040"/>
          </a:xfrm>
        </p:spPr>
        <p:txBody>
          <a:bodyPr>
            <a:normAutofit/>
          </a:bodyPr>
          <a:lstStyle/>
          <a:p>
            <a:r>
              <a:rPr lang="en-US" sz="3600" b="1" dirty="0"/>
              <a:t>RFID Based Inventory Management System</a:t>
            </a: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8725B-6E40-4D82-B375-7831D81C2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96744" y="2220278"/>
            <a:ext cx="8791575" cy="2849562"/>
          </a:xfrm>
        </p:spPr>
        <p:txBody>
          <a:bodyPr>
            <a:noAutofit/>
          </a:bodyPr>
          <a:lstStyle/>
          <a:p>
            <a:r>
              <a:rPr lang="en-US" sz="1600" i="1" dirty="0"/>
              <a:t>Team member</a:t>
            </a:r>
          </a:p>
          <a:p>
            <a:r>
              <a:rPr lang="en-US" sz="1600" i="1" dirty="0"/>
              <a:t>Yugraj singh</a:t>
            </a:r>
          </a:p>
          <a:p>
            <a:r>
              <a:rPr lang="en-US" sz="1600" i="1" dirty="0"/>
              <a:t>Harshvardhan singh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8D93FD-FEF4-C853-6020-B9F15D6E1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481" y="1869440"/>
            <a:ext cx="6329680" cy="451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Rockwell" panose="02060603020205020403" pitchFamily="18" charset="0"/>
              </a:rPr>
              <a:t>The Problem with Traditional Inventory Management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D4F1745-A55E-4835-88EB-BC637121B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0993639"/>
              </p:ext>
            </p:extLst>
          </p:nvPr>
        </p:nvGraphicFramePr>
        <p:xfrm>
          <a:off x="1141411" y="2286000"/>
          <a:ext cx="990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AFB836C-04A6-7ACF-38B2-F63EEC2F0AB5}"/>
              </a:ext>
            </a:extLst>
          </p:cNvPr>
          <p:cNvSpPr txBox="1"/>
          <p:nvPr/>
        </p:nvSpPr>
        <p:spPr>
          <a:xfrm>
            <a:off x="1141411" y="2255520"/>
            <a:ext cx="82169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Manual stock counting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Human errors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Time-consuming process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Inventory mismatch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Poor tracking efficiency </a:t>
            </a:r>
          </a:p>
        </p:txBody>
      </p:sp>
      <p:pic>
        <p:nvPicPr>
          <p:cNvPr id="6" name="Picture 5" descr="warehouse inventory management with barcode scanner">
            <a:extLst>
              <a:ext uri="{FF2B5EF4-FFF2-40B4-BE49-F238E27FC236}">
                <a16:creationId xmlns:a16="http://schemas.microsoft.com/office/drawing/2014/main" id="{ABD3E9DC-C302-F07F-878D-C2945A3A16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0400" y="2572385"/>
            <a:ext cx="4940595" cy="349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689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55040" y="167200"/>
            <a:ext cx="9906000" cy="1477963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Rockwell" panose="02060603020205020403" pitchFamily="18" charset="0"/>
              </a:rPr>
              <a:t>The Prototype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874074" y="1985328"/>
            <a:ext cx="4878388" cy="3541712"/>
          </a:xfrm>
        </p:spPr>
        <p:txBody>
          <a:bodyPr>
            <a:normAutofit fontScale="92500"/>
          </a:bodyPr>
          <a:lstStyle/>
          <a:p>
            <a:r>
              <a:rPr lang="en-US" dirty="0"/>
              <a:t>We selected an </a:t>
            </a:r>
            <a:r>
              <a:rPr lang="en-US" b="1" dirty="0"/>
              <a:t>RFID-Based Inventory Management System</a:t>
            </a:r>
            <a:r>
              <a:rPr lang="en-US" dirty="0"/>
              <a:t> because it provides automatic identification and tracking of inventory items without manual scanning.</a:t>
            </a:r>
          </a:p>
          <a:p>
            <a:r>
              <a:rPr lang="en-US" sz="2400" dirty="0"/>
              <a:t>Our prototype is a </a:t>
            </a:r>
            <a:r>
              <a:rPr lang="en-US" sz="2400" b="1" dirty="0"/>
              <a:t>scaled functional model</a:t>
            </a:r>
            <a:r>
              <a:rPr lang="en-US" sz="2400" dirty="0"/>
              <a:t>, not a full industrial system.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42C7F24-A0C3-FD93-0A94-A9E8F8A27A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80874"/>
              </p:ext>
            </p:extLst>
          </p:nvPr>
        </p:nvGraphicFramePr>
        <p:xfrm>
          <a:off x="6096000" y="1837446"/>
          <a:ext cx="5593078" cy="3689594"/>
        </p:xfrm>
        <a:graphic>
          <a:graphicData uri="http://schemas.openxmlformats.org/drawingml/2006/table">
            <a:tbl>
              <a:tblPr/>
              <a:tblGrid>
                <a:gridCol w="2796539">
                  <a:extLst>
                    <a:ext uri="{9D8B030D-6E8A-4147-A177-3AD203B41FA5}">
                      <a16:colId xmlns:a16="http://schemas.microsoft.com/office/drawing/2014/main" val="1865918440"/>
                    </a:ext>
                  </a:extLst>
                </a:gridCol>
                <a:gridCol w="2796539">
                  <a:extLst>
                    <a:ext uri="{9D8B030D-6E8A-4147-A177-3AD203B41FA5}">
                      <a16:colId xmlns:a16="http://schemas.microsoft.com/office/drawing/2014/main" val="1110174687"/>
                    </a:ext>
                  </a:extLst>
                </a:gridCol>
              </a:tblGrid>
              <a:tr h="321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Component</a:t>
                      </a:r>
                    </a:p>
                  </a:txBody>
                  <a:tcPr marL="80493" marR="80493" marT="40247" marB="40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Purpose</a:t>
                      </a:r>
                    </a:p>
                  </a:txBody>
                  <a:tcPr marL="80493" marR="80493" marT="40247" marB="40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69235"/>
                  </a:ext>
                </a:extLst>
              </a:tr>
              <a:tr h="321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ESP32</a:t>
                      </a:r>
                    </a:p>
                  </a:txBody>
                  <a:tcPr marL="80493" marR="80493" marT="40247" marB="40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Main controller</a:t>
                      </a:r>
                    </a:p>
                  </a:txBody>
                  <a:tcPr marL="80493" marR="80493" marT="40247" marB="40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2483691"/>
                  </a:ext>
                </a:extLst>
              </a:tr>
              <a:tr h="321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MFRC522 RFID Reader</a:t>
                      </a:r>
                    </a:p>
                  </a:txBody>
                  <a:tcPr marL="80493" marR="80493" marT="40247" marB="40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Reads RFID tags</a:t>
                      </a:r>
                    </a:p>
                  </a:txBody>
                  <a:tcPr marL="80493" marR="80493" marT="40247" marB="40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591703"/>
                  </a:ext>
                </a:extLst>
              </a:tr>
              <a:tr h="321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RFID Tags/Cards</a:t>
                      </a:r>
                    </a:p>
                  </a:txBody>
                  <a:tcPr marL="80493" marR="80493" marT="40247" marB="40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Store item IDs</a:t>
                      </a:r>
                    </a:p>
                  </a:txBody>
                  <a:tcPr marL="80493" marR="80493" marT="40247" marB="40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88092"/>
                  </a:ext>
                </a:extLst>
              </a:tr>
              <a:tr h="321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16×2 LCD Display</a:t>
                      </a:r>
                    </a:p>
                  </a:txBody>
                  <a:tcPr marL="80493" marR="80493" marT="40247" marB="40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Displays inventory status</a:t>
                      </a:r>
                    </a:p>
                  </a:txBody>
                  <a:tcPr marL="80493" marR="80493" marT="40247" marB="40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857732"/>
                  </a:ext>
                </a:extLst>
              </a:tr>
              <a:tr h="321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Breadboard</a:t>
                      </a:r>
                    </a:p>
                  </a:txBody>
                  <a:tcPr marL="80493" marR="80493" marT="40247" marB="40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Circuit assembly</a:t>
                      </a:r>
                    </a:p>
                  </a:txBody>
                  <a:tcPr marL="80493" marR="80493" marT="40247" marB="40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479397"/>
                  </a:ext>
                </a:extLst>
              </a:tr>
              <a:tr h="321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Jumper Wires</a:t>
                      </a:r>
                    </a:p>
                  </a:txBody>
                  <a:tcPr marL="80493" marR="80493" marT="40247" marB="40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Connections</a:t>
                      </a:r>
                    </a:p>
                  </a:txBody>
                  <a:tcPr marL="80493" marR="80493" marT="40247" marB="40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3433962"/>
                  </a:ext>
                </a:extLst>
              </a:tr>
              <a:tr h="321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LED</a:t>
                      </a:r>
                    </a:p>
                  </a:txBody>
                  <a:tcPr marL="80493" marR="80493" marT="40247" marB="40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Status indication</a:t>
                      </a:r>
                    </a:p>
                  </a:txBody>
                  <a:tcPr marL="80493" marR="80493" marT="40247" marB="40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054858"/>
                  </a:ext>
                </a:extLst>
              </a:tr>
              <a:tr h="321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Buzzer</a:t>
                      </a:r>
                    </a:p>
                  </a:txBody>
                  <a:tcPr marL="80493" marR="80493" marT="40247" marB="40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Alert notification</a:t>
                      </a:r>
                    </a:p>
                  </a:txBody>
                  <a:tcPr marL="80493" marR="80493" marT="40247" marB="40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174580"/>
                  </a:ext>
                </a:extLst>
              </a:tr>
              <a:tr h="321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USB Cable</a:t>
                      </a:r>
                    </a:p>
                  </a:txBody>
                  <a:tcPr marL="80493" marR="80493" marT="40247" marB="40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Arduino programming</a:t>
                      </a:r>
                    </a:p>
                  </a:txBody>
                  <a:tcPr marL="80493" marR="80493" marT="40247" marB="40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1566071"/>
                  </a:ext>
                </a:extLst>
              </a:tr>
              <a:tr h="321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Arduino IDE</a:t>
                      </a:r>
                    </a:p>
                  </a:txBody>
                  <a:tcPr marL="80493" marR="80493" marT="40247" marB="40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Software development</a:t>
                      </a:r>
                    </a:p>
                  </a:txBody>
                  <a:tcPr marL="80493" marR="80493" marT="40247" marB="402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633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8410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istic">
            <a:extLst>
              <a:ext uri="{FF2B5EF4-FFF2-40B4-BE49-F238E27FC236}">
                <a16:creationId xmlns:a16="http://schemas.microsoft.com/office/drawing/2014/main" id="{356AAFCD-9B18-35A1-FCA1-F5E69BF87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997392"/>
            <a:ext cx="6267273" cy="31089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56640" y="4622800"/>
            <a:ext cx="701040" cy="2235200"/>
          </a:xfrm>
        </p:spPr>
        <p:txBody>
          <a:bodyPr>
            <a:normAutofit/>
          </a:bodyPr>
          <a:lstStyle/>
          <a:p>
            <a:endParaRPr lang="en-US" sz="4400" dirty="0">
              <a:latin typeface="Rockwell" panose="02060603020205020403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2FA989-6B7C-488C-85ED-CB8D01BA3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6520671"/>
              </p:ext>
            </p:extLst>
          </p:nvPr>
        </p:nvGraphicFramePr>
        <p:xfrm>
          <a:off x="467360" y="1052511"/>
          <a:ext cx="5232400" cy="49987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93417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Rockwell" panose="02060603020205020403" pitchFamily="18" charset="0"/>
              </a:rPr>
              <a:t>Testing The Prototype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381567"/>
            <a:ext cx="9905999" cy="3541714"/>
          </a:xfrm>
        </p:spPr>
        <p:txBody>
          <a:bodyPr>
            <a:normAutofit/>
          </a:bodyPr>
          <a:lstStyle/>
          <a:p>
            <a:r>
              <a:rPr lang="en-US" dirty="0"/>
              <a:t>RFID tag detection </a:t>
            </a:r>
          </a:p>
          <a:p>
            <a:r>
              <a:rPr lang="en-US" dirty="0"/>
              <a:t>Inventory identification </a:t>
            </a:r>
          </a:p>
          <a:p>
            <a:r>
              <a:rPr lang="en-US" dirty="0"/>
              <a:t>Automated tracking process </a:t>
            </a:r>
          </a:p>
          <a:p>
            <a:r>
              <a:rPr lang="en-US" dirty="0"/>
              <a:t>The small-scale model provided enough information to understand system behavior and validate the design before developing a larger industrial solution.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318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Rockwell" panose="02060603020205020403" pitchFamily="18" charset="0"/>
              </a:rPr>
              <a:t>Final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 dirty="0"/>
              <a:t>Does the Final Prototype Solve the Problem?</a:t>
            </a:r>
            <a:endParaRPr lang="en-US" dirty="0"/>
          </a:p>
          <a:p>
            <a:r>
              <a:rPr lang="en-US" dirty="0"/>
              <a:t>The RFID-Based Inventory Management System successfully addresses the problems of manual inventory tracking by:</a:t>
            </a:r>
          </a:p>
          <a:p>
            <a:r>
              <a:rPr lang="en-US" dirty="0"/>
              <a:t>Automatically identifying inventory items using RFID tags. </a:t>
            </a:r>
          </a:p>
          <a:p>
            <a:r>
              <a:rPr lang="en-US" dirty="0"/>
              <a:t>Reducing human errors. </a:t>
            </a:r>
          </a:p>
          <a:p>
            <a:r>
              <a:rPr lang="en-US" dirty="0"/>
              <a:t>Providing faster inventory updates. </a:t>
            </a:r>
          </a:p>
          <a:p>
            <a:r>
              <a:rPr lang="en-US" dirty="0"/>
              <a:t>Improving inventory visibility and management efficiency.</a:t>
            </a:r>
          </a:p>
        </p:txBody>
      </p:sp>
    </p:spTree>
    <p:extLst>
      <p:ext uri="{BB962C8B-B14F-4D97-AF65-F5344CB8AC3E}">
        <p14:creationId xmlns:p14="http://schemas.microsoft.com/office/powerpoint/2010/main" val="1902613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772" y="2249487"/>
            <a:ext cx="9905999" cy="3541714"/>
          </a:xfrm>
        </p:spPr>
        <p:txBody>
          <a:bodyPr>
            <a:normAutofit/>
          </a:bodyPr>
          <a:lstStyle/>
          <a:p>
            <a:r>
              <a:rPr lang="en-US" dirty="0"/>
              <a:t>IoT + Cloud Integration</a:t>
            </a:r>
          </a:p>
          <a:p>
            <a:r>
              <a:rPr lang="en-US" dirty="0"/>
              <a:t> Mobile App </a:t>
            </a:r>
          </a:p>
          <a:p>
            <a:r>
              <a:rPr lang="en-US" dirty="0"/>
              <a:t>Smart Warehouse Implementation</a:t>
            </a:r>
          </a:p>
          <a:p>
            <a:r>
              <a:rPr lang="en-US" dirty="0"/>
              <a:t>Long-range RFID readers </a:t>
            </a:r>
          </a:p>
          <a:p>
            <a:r>
              <a:rPr lang="en-US" dirty="0"/>
              <a:t>Real-time analytics dashboard</a:t>
            </a:r>
          </a:p>
        </p:txBody>
      </p:sp>
      <p:pic>
        <p:nvPicPr>
          <p:cNvPr id="4" name="Picture 3" descr="Best Cloud Computing Inventory Management Software: Custom All-In-One Solution 2024">
            <a:extLst>
              <a:ext uri="{FF2B5EF4-FFF2-40B4-BE49-F238E27FC236}">
                <a16:creationId xmlns:a16="http://schemas.microsoft.com/office/drawing/2014/main" id="{CEF80011-9123-F930-DEF3-F21E65306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7129" y="1731326"/>
            <a:ext cx="4800282" cy="375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556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B52CD-DA08-F830-0483-26C2CA363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DC192-D1B3-4F56-8ADC-EDF1CF51D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977" y="2101124"/>
            <a:ext cx="4476046" cy="1982474"/>
          </a:xfrm>
        </p:spPr>
        <p:txBody>
          <a:bodyPr>
            <a:normAutofit/>
          </a:bodyPr>
          <a:lstStyle/>
          <a:p>
            <a:r>
              <a:rPr lang="en-US" sz="4800" b="1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C5694-464A-FF05-C7F4-2794DF0F906E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2815936" y="5631872"/>
            <a:ext cx="2455053" cy="293023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7493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77815013_Problem-solution cycle_RVA_v3" id="{20834410-FC37-46AC-ACB7-FB202F8C4BA9}" vid="{1ED24379-BFF7-4E2F-B7EC-A47C906E21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7866CFD-F94E-4AE5-ACEA-86FEC0F48A10}">
  <ds:schemaRefs>
    <ds:schemaRef ds:uri="http://schemas.microsoft.com/office/2006/documentManagement/types"/>
    <ds:schemaRef ds:uri="71af3243-3dd4-4a8d-8c0d-dd76da1f02a5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  <ds:schemaRef ds:uri="http://schemas.openxmlformats.org/package/2006/metadata/core-properties"/>
    <ds:schemaRef ds:uri="16c05727-aa75-4e4a-9b5f-8a80a1165891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A7C0B241-13E5-418D-8920-D23491E2D2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579702B-25C7-40D7-9E29-7686B11A966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Problemsolution cycle </Template>
  <TotalTime>620</TotalTime>
  <Words>233</Words>
  <Application>Microsoft Office PowerPoint</Application>
  <PresentationFormat>Widescreen</PresentationFormat>
  <Paragraphs>60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Rockwell</vt:lpstr>
      <vt:lpstr>Tahoma</vt:lpstr>
      <vt:lpstr>Tw Cen MT</vt:lpstr>
      <vt:lpstr>Wingdings</vt:lpstr>
      <vt:lpstr>Circuit</vt:lpstr>
      <vt:lpstr>RFID Based Inventory Management System</vt:lpstr>
      <vt:lpstr>The Problem with Traditional Inventory Management</vt:lpstr>
      <vt:lpstr>The Prototype</vt:lpstr>
      <vt:lpstr>PowerPoint Presentation</vt:lpstr>
      <vt:lpstr>Testing The Prototype</vt:lpstr>
      <vt:lpstr>Final Result</vt:lpstr>
      <vt:lpstr>Future Improvements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yugraj singh</dc:creator>
  <cp:lastModifiedBy>yugraj singh</cp:lastModifiedBy>
  <cp:revision>2</cp:revision>
  <dcterms:created xsi:type="dcterms:W3CDTF">2026-06-05T20:05:12Z</dcterms:created>
  <dcterms:modified xsi:type="dcterms:W3CDTF">2026-06-06T08:10:40Z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